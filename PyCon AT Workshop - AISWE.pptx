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6858000" cx="12191675"/>
  <p:notesSz cx="6858000" cy="9144000"/>
  <p:embeddedFontLst>
    <p:embeddedFont>
      <p:font typeface="Roboto"/>
      <p:regular r:id="rId53"/>
      <p:bold r:id="rId54"/>
      <p:italic r:id="rId55"/>
      <p:boldItalic r:id="rId56"/>
    </p:embeddedFont>
    <p:embeddedFont>
      <p:font typeface="Inter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Inter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italic.fntdata"/><Relationship Id="rId10" Type="http://schemas.openxmlformats.org/officeDocument/2006/relationships/slide" Target="slides/slide5.xml"/><Relationship Id="rId54" Type="http://schemas.openxmlformats.org/officeDocument/2006/relationships/font" Target="fonts/Roboto-bold.fntdata"/><Relationship Id="rId13" Type="http://schemas.openxmlformats.org/officeDocument/2006/relationships/slide" Target="slides/slide8.xml"/><Relationship Id="rId57" Type="http://schemas.openxmlformats.org/officeDocument/2006/relationships/font" Target="fonts/Inter-regular.fntdata"/><Relationship Id="rId12" Type="http://schemas.openxmlformats.org/officeDocument/2006/relationships/slide" Target="slides/slide7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59" Type="http://schemas.openxmlformats.org/officeDocument/2006/relationships/font" Target="fonts/Inter-italic.fntdata"/><Relationship Id="rId14" Type="http://schemas.openxmlformats.org/officeDocument/2006/relationships/slide" Target="slides/slide9.xml"/><Relationship Id="rId58" Type="http://schemas.openxmlformats.org/officeDocument/2006/relationships/font" Target="fonts/Inter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3fe3bf9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73fe3bf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5795e6738_0_1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g3d5795e6738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5795e6738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5795e6738_0_1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d5795e6738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5795e6738_0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5795e6738_0_1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d5795e6738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5795e6738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5795e6738_0_1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d5795e6738_0_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5795e6738_0_1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5795e6738_0_2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d5795e6738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5795e6738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5795e6738_0_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g3d5795e6738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5795e6738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5795e6738_0_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d5795e6738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5795e6738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5795e6738_0_8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d5795e6738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5795e6738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5795e6738_0_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d5795e6738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5795e6738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5795e6738_0_1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g3d5795e6738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d5795e6738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585334384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g3d58533438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d58533438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585334384_0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g3d585334384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d585334384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5795e6738_0_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g3d5795e673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5795e6738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5795e6738_0_2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3d5795e6738_0_2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d5795e6738_0_2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58533438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5853343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585334384_0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g3d585334384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d585334384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585334384_0_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g3d585334384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d585334384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585334384_0_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g3d585334384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d585334384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592708264_0_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g3d592708264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592708264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592708264_0_1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g3d592708264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d592708264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592708264_0_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g3d592708264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d592708264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592708264_0_1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3d592708264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d592708264_0_1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592708264_0_2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g3d592708264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d592708264_0_2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592708264_0_2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g3d592708264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d592708264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d59c006b45_1_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g3d59c006b45_1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d59c006b45_1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d59c006b45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8" name="Google Shape;568;g3d59c006b4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d59c006b4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d5d563480c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d5d563480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d5d563480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d5d563480c_0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6" name="Google Shape;606;g3d5d563480c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d5d563480c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d59c006b45_1_1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g3d59c006b45_1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d59c006b45_1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973451cd57_0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4" name="Google Shape;644;g3973451cd57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3973451cd57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973451cd57_0_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g3973451cd57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973451cd57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973451cd57_0_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1" name="Google Shape;671;g3973451cd57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973451cd57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973451cd57_0_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0" name="Google Shape;680;g3973451cd57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973451cd57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973451cd57_0_1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5" name="Google Shape;695;g3973451cd57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973451cd57_0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973451cd57_0_1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0" name="Google Shape;710;g3973451cd57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973451cd57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d6479f9040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g3d6479f904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d6479f904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973451cd57_0_1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0" name="Google Shape;740;g3973451cd57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973451cd57_0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973451cd57_0_1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5" name="Google Shape;755;g3973451cd57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973451cd57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973451cd57_0_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4" name="Google Shape;764;g3973451cd57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973451cd57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973451cd57_0_1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9" name="Google Shape;779;g3973451cd57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g3973451cd57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973451cd57_0_1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4" name="Google Shape;794;g3973451cd57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3973451cd57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3" name="Google Shape;8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038681" y="6217633"/>
            <a:ext cx="99888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7.jp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arxiv.org/abs/2506.08872" TargetMode="External"/><Relationship Id="rId4" Type="http://schemas.openxmlformats.org/officeDocument/2006/relationships/hyperlink" Target="https://margaretstorey.com/blog/2026/02/09/cognitive-debt/" TargetMode="External"/><Relationship Id="rId5" Type="http://schemas.openxmlformats.org/officeDocument/2006/relationships/hyperlink" Target="https://martinfowler.com/fragments/2026-02-13.html" TargetMode="External"/><Relationship Id="rId6" Type="http://schemas.openxmlformats.org/officeDocument/2006/relationships/hyperlink" Target="https://www.latent.space/p/reviews-dead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anthropic.com/research/AI-assistance-coding-skills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metr.org/blog/2025-07-10-early-2025-ai-experienced-os-dev-study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metr.org/blog/2025-07-10-early-2025-ai-experienced-os-dev-study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ee.stanford.edu/dan-boneh-and-team-find-relying-ai-more-likely-make-your-code-buggier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arxiv.org/abs/2510.23761" TargetMode="External"/><Relationship Id="rId4" Type="http://schemas.openxmlformats.org/officeDocument/2006/relationships/hyperlink" Target="https://arxiv.org/abs/2511.12823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097280" y="1645920"/>
            <a:ext cx="36576" cy="3566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371600" y="1645920"/>
            <a:ext cx="86868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rgbClr val="F8FAFC"/>
                </a:solidFill>
              </a:rPr>
              <a:t>AI-driven </a:t>
            </a:r>
            <a:endParaRPr b="1" sz="5800">
              <a:solidFill>
                <a:srgbClr val="F8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rgbClr val="F8FAFC"/>
                </a:solidFill>
              </a:rPr>
              <a:t>Software Engineering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371600" y="356616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Guardrails for the Age of Vibe Programming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371600" y="5029200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Dr. Stefan Trenkwalder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Code Praxis GmbH  ·  </a:t>
            </a:r>
            <a:r>
              <a:rPr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PyCon Austria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34" y="1645920"/>
            <a:ext cx="794106" cy="794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title="code-practice-slogan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C1C2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5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title="BetterPic-Export-9fcf6ddb-17e6-4819-9455-f37a7a49761d-image-0.jpg"/>
          <p:cNvPicPr preferRelativeResize="0"/>
          <p:nvPr/>
        </p:nvPicPr>
        <p:blipFill rotWithShape="1">
          <a:blip r:embed="rId4">
            <a:alphaModFix/>
          </a:blip>
          <a:srcRect b="26219" l="4759" r="4759" t="2824"/>
          <a:stretch/>
        </p:blipFill>
        <p:spPr>
          <a:xfrm>
            <a:off x="603263" y="1014100"/>
            <a:ext cx="3309300" cy="3309000"/>
          </a:xfrm>
          <a:prstGeom prst="ellipse">
            <a:avLst/>
          </a:prstGeom>
          <a:noFill/>
          <a:ln cap="flat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5"/>
          <p:cNvSpPr/>
          <p:nvPr/>
        </p:nvSpPr>
        <p:spPr>
          <a:xfrm>
            <a:off x="648725" y="4598588"/>
            <a:ext cx="3218400" cy="124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Dr Stefan Trenkwalder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Software Engineer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 title="link-qr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0451" y="1175050"/>
            <a:ext cx="4507899" cy="450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3725300" y="439900"/>
            <a:ext cx="82182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https://github.com/Code-Praxis/pycon-at-2026-workshop-ai-tdd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07985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AI is just amazing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17"/>
          <p:cNvGrpSpPr/>
          <p:nvPr/>
        </p:nvGrpSpPr>
        <p:grpSpPr>
          <a:xfrm>
            <a:off x="103675" y="1342950"/>
            <a:ext cx="11791525" cy="741900"/>
            <a:chOff x="103675" y="1342950"/>
            <a:chExt cx="11791525" cy="741900"/>
          </a:xfrm>
        </p:grpSpPr>
        <p:sp>
          <p:nvSpPr>
            <p:cNvPr id="128" name="Google Shape;128;p17"/>
            <p:cNvSpPr txBox="1"/>
            <p:nvPr/>
          </p:nvSpPr>
          <p:spPr>
            <a:xfrm>
              <a:off x="103675" y="1342950"/>
              <a:ext cx="27156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8969000" y="1342950"/>
              <a:ext cx="29262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" name="Google Shape;130;p17"/>
            <p:cNvCxnSpPr>
              <a:stCxn id="128" idx="3"/>
              <a:endCxn id="129" idx="1"/>
            </p:cNvCxnSpPr>
            <p:nvPr/>
          </p:nvCxnSpPr>
          <p:spPr>
            <a:xfrm>
              <a:off x="2819275" y="1713900"/>
              <a:ext cx="6149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1" name="Google Shape;131;p17"/>
          <p:cNvSpPr txBox="1"/>
          <p:nvPr/>
        </p:nvSpPr>
        <p:spPr>
          <a:xfrm>
            <a:off x="148488" y="2449525"/>
            <a:ext cx="25614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Autocomplete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(Copilot)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AI is just amazing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8"/>
          <p:cNvGrpSpPr/>
          <p:nvPr/>
        </p:nvGrpSpPr>
        <p:grpSpPr>
          <a:xfrm>
            <a:off x="103675" y="1342950"/>
            <a:ext cx="11791525" cy="741900"/>
            <a:chOff x="103675" y="1342950"/>
            <a:chExt cx="11791525" cy="741900"/>
          </a:xfrm>
        </p:grpSpPr>
        <p:sp>
          <p:nvSpPr>
            <p:cNvPr id="146" name="Google Shape;146;p18"/>
            <p:cNvSpPr txBox="1"/>
            <p:nvPr/>
          </p:nvSpPr>
          <p:spPr>
            <a:xfrm>
              <a:off x="103675" y="1342950"/>
              <a:ext cx="27156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8969000" y="1342950"/>
              <a:ext cx="29262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8" name="Google Shape;148;p18"/>
            <p:cNvCxnSpPr>
              <a:stCxn id="146" idx="3"/>
              <a:endCxn id="147" idx="1"/>
            </p:cNvCxnSpPr>
            <p:nvPr/>
          </p:nvCxnSpPr>
          <p:spPr>
            <a:xfrm>
              <a:off x="2819275" y="1713900"/>
              <a:ext cx="6149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9" name="Google Shape;149;p18"/>
          <p:cNvSpPr txBox="1"/>
          <p:nvPr/>
        </p:nvSpPr>
        <p:spPr>
          <a:xfrm>
            <a:off x="148488" y="2449525"/>
            <a:ext cx="25614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Autocomplete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(Copilot)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931763" y="2449525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Assistants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(ChatGPT)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AI is just amazing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9"/>
          <p:cNvGrpSpPr/>
          <p:nvPr/>
        </p:nvGrpSpPr>
        <p:grpSpPr>
          <a:xfrm>
            <a:off x="103675" y="1342950"/>
            <a:ext cx="11791525" cy="741900"/>
            <a:chOff x="103675" y="1342950"/>
            <a:chExt cx="11791525" cy="741900"/>
          </a:xfrm>
        </p:grpSpPr>
        <p:sp>
          <p:nvSpPr>
            <p:cNvPr id="165" name="Google Shape;165;p19"/>
            <p:cNvSpPr txBox="1"/>
            <p:nvPr/>
          </p:nvSpPr>
          <p:spPr>
            <a:xfrm>
              <a:off x="103675" y="1342950"/>
              <a:ext cx="27156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8969000" y="1342950"/>
              <a:ext cx="29262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" name="Google Shape;167;p19"/>
            <p:cNvCxnSpPr>
              <a:stCxn id="165" idx="3"/>
              <a:endCxn id="166" idx="1"/>
            </p:cNvCxnSpPr>
            <p:nvPr/>
          </p:nvCxnSpPr>
          <p:spPr>
            <a:xfrm>
              <a:off x="2819275" y="1713900"/>
              <a:ext cx="6149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8" name="Google Shape;168;p19"/>
          <p:cNvSpPr txBox="1"/>
          <p:nvPr/>
        </p:nvSpPr>
        <p:spPr>
          <a:xfrm>
            <a:off x="148488" y="2449525"/>
            <a:ext cx="25614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Autocomplete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(Copilot)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931763" y="2449525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Assistants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(ChatGPT)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072738" y="2449525"/>
            <a:ext cx="17553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AI-native IDEs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(Cursor)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AI is just amazing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0"/>
          <p:cNvGrpSpPr/>
          <p:nvPr/>
        </p:nvGrpSpPr>
        <p:grpSpPr>
          <a:xfrm>
            <a:off x="103675" y="1342950"/>
            <a:ext cx="11791525" cy="741900"/>
            <a:chOff x="103675" y="1342950"/>
            <a:chExt cx="11791525" cy="741900"/>
          </a:xfrm>
        </p:grpSpPr>
        <p:sp>
          <p:nvSpPr>
            <p:cNvPr id="185" name="Google Shape;185;p20"/>
            <p:cNvSpPr txBox="1"/>
            <p:nvPr/>
          </p:nvSpPr>
          <p:spPr>
            <a:xfrm>
              <a:off x="103675" y="1342950"/>
              <a:ext cx="27156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8969000" y="1342950"/>
              <a:ext cx="29262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0"/>
            <p:cNvCxnSpPr>
              <a:stCxn id="185" idx="3"/>
              <a:endCxn id="186" idx="1"/>
            </p:cNvCxnSpPr>
            <p:nvPr/>
          </p:nvCxnSpPr>
          <p:spPr>
            <a:xfrm>
              <a:off x="2819275" y="1713900"/>
              <a:ext cx="6149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8" name="Google Shape;188;p20"/>
          <p:cNvSpPr txBox="1"/>
          <p:nvPr/>
        </p:nvSpPr>
        <p:spPr>
          <a:xfrm>
            <a:off x="148488" y="2449525"/>
            <a:ext cx="25614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Autocomplete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(Copilot)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931763" y="2449525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Assistants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(ChatGPT)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072738" y="2449525"/>
            <a:ext cx="17553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AI-native IDEs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(Cursor)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7049913" y="2449525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Agents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(Devin)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AI is just amazing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103675" y="1342950"/>
            <a:ext cx="11791525" cy="741900"/>
            <a:chOff x="103675" y="1342950"/>
            <a:chExt cx="11791525" cy="741900"/>
          </a:xfrm>
        </p:grpSpPr>
        <p:sp>
          <p:nvSpPr>
            <p:cNvPr id="206" name="Google Shape;206;p21"/>
            <p:cNvSpPr txBox="1"/>
            <p:nvPr/>
          </p:nvSpPr>
          <p:spPr>
            <a:xfrm>
              <a:off x="103675" y="1342950"/>
              <a:ext cx="27156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8969000" y="1342950"/>
              <a:ext cx="29262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" name="Google Shape;208;p21"/>
            <p:cNvCxnSpPr>
              <a:stCxn id="206" idx="3"/>
              <a:endCxn id="207" idx="1"/>
            </p:cNvCxnSpPr>
            <p:nvPr/>
          </p:nvCxnSpPr>
          <p:spPr>
            <a:xfrm>
              <a:off x="2819275" y="1713900"/>
              <a:ext cx="6149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09" name="Google Shape;209;p21"/>
          <p:cNvSpPr txBox="1"/>
          <p:nvPr/>
        </p:nvSpPr>
        <p:spPr>
          <a:xfrm>
            <a:off x="148475" y="2531700"/>
            <a:ext cx="25614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Autocomplete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(Copilot)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931750" y="2531700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Assistants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(ChatGPT)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072725" y="2531700"/>
            <a:ext cx="17553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AI-native IDEs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(Cursor)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7049900" y="2531700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Agents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(Devin)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9190875" y="2531700"/>
            <a:ext cx="26595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Full-stack App Builders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(Lovable)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Usage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57200" y="1288276"/>
            <a:ext cx="68580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1" lang="en-US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ADOPTION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334155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92% of US developers use AI coding tools daily (Hashnode 2026)</a:t>
            </a:r>
            <a:endParaRPr sz="23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334155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generates 46% of all new code</a:t>
            </a:r>
            <a:endParaRPr sz="23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334155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70% of engineers use 2–4 AI tools simultaneously</a:t>
            </a:r>
            <a:endParaRPr sz="23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227" name="Google Shape;2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Usage without Trust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457200" y="1288276"/>
            <a:ext cx="68580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1" lang="en-US" sz="160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ADOPTION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334155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92% of US developers use AI coding tools daily (Hashnode 2026)</a:t>
            </a:r>
            <a:endParaRPr sz="23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334155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generates 46% of all new code</a:t>
            </a:r>
            <a:endParaRPr sz="23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334155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70% of engineers use 2–4 AI tools simultaneously</a:t>
            </a:r>
            <a:endParaRPr sz="23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7589520" y="1280160"/>
            <a:ext cx="4114800" cy="25602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7772400" y="1463040"/>
            <a:ext cx="3749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// CALLOUT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6500">
                <a:solidFill>
                  <a:srgbClr val="F8FAFC"/>
                </a:solidFill>
              </a:rPr>
              <a:t>29 %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Trust in AI code accuracy </a:t>
            </a:r>
            <a:endParaRPr sz="23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Stack Overflow 2025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0" y="125"/>
            <a:ext cx="121917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rgbClr val="F8FAFC"/>
                </a:solidFill>
              </a:rPr>
              <a:t>What is your biggest failure or frustration </a:t>
            </a:r>
            <a:endParaRPr b="1" sz="2800">
              <a:solidFill>
                <a:srgbClr val="F8FAF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rgbClr val="F8FAFC"/>
                </a:solidFill>
              </a:rPr>
              <a:t>with AI-generated code?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4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Claude.ai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265" name="Google Shape;26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 title="Screenshot From 2026-04-11 19-38-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600" y="1363792"/>
            <a:ext cx="11765100" cy="4615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Claude.ai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278" name="Google Shape;2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279" name="Google Shape;2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 title="Screenshot From 2026-04-11 19-39-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288" y="1363801"/>
            <a:ext cx="11765093" cy="46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Claude is not the only one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292" name="Google Shape;2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293" name="Google Shape;2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7"/>
          <p:cNvSpPr txBox="1"/>
          <p:nvPr/>
        </p:nvSpPr>
        <p:spPr>
          <a:xfrm>
            <a:off x="181975" y="1245750"/>
            <a:ext cx="11897700" cy="5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AWS outage (Oct 2025): Netflix was down too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Claude is not the only one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306" name="Google Shape;3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307" name="Google Shape;30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/>
          <p:cNvSpPr txBox="1"/>
          <p:nvPr/>
        </p:nvSpPr>
        <p:spPr>
          <a:xfrm>
            <a:off x="181975" y="1245750"/>
            <a:ext cx="11897700" cy="5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AWS outage (Oct 2025): Netflix was down too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 uptime dropped below 90%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Claude is not the only one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320" name="Google Shape;3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321" name="Google Shape;32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 txBox="1"/>
          <p:nvPr/>
        </p:nvSpPr>
        <p:spPr>
          <a:xfrm>
            <a:off x="181975" y="1245750"/>
            <a:ext cx="11897700" cy="5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AWS outage (Oct 2025): Netflix was down too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 uptime dropped below 90%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Stanford study (Perry/Boneh):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88% of developers report negative AI impacts on code quality (Sonar 2026)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53% note AI produces code that "looks correct but is unreliable"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45% report debugging AI code takes more time than writing it manually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 of developers bypass security policies when using AI tools (Snyk)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10% scan AI-generated code before shipping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914400" y="914400"/>
            <a:ext cx="10493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2563EB"/>
                </a:solidFill>
              </a:rPr>
              <a:t>Where do we go from here?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914400" y="3469507"/>
            <a:ext cx="45720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30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914400" y="914400"/>
            <a:ext cx="10493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2563EB"/>
                </a:solidFill>
              </a:rPr>
              <a:t>Where do we go from here?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914400" y="3872250"/>
            <a:ext cx="91440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</a:rPr>
              <a:t>Guard 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know this problem .. We dealt with this for decades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914400" y="3469507"/>
            <a:ext cx="45720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31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07985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3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359" name="Google Shape;3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360" name="Google Shape;36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" name="Google Shape;361;p33"/>
          <p:cNvGrpSpPr/>
          <p:nvPr/>
        </p:nvGrpSpPr>
        <p:grpSpPr>
          <a:xfrm>
            <a:off x="103675" y="1342950"/>
            <a:ext cx="11791525" cy="741900"/>
            <a:chOff x="103675" y="1342950"/>
            <a:chExt cx="11791525" cy="741900"/>
          </a:xfrm>
        </p:grpSpPr>
        <p:sp>
          <p:nvSpPr>
            <p:cNvPr id="362" name="Google Shape;362;p33"/>
            <p:cNvSpPr txBox="1"/>
            <p:nvPr/>
          </p:nvSpPr>
          <p:spPr>
            <a:xfrm>
              <a:off x="103675" y="1342950"/>
              <a:ext cx="27156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3"/>
            <p:cNvSpPr txBox="1"/>
            <p:nvPr/>
          </p:nvSpPr>
          <p:spPr>
            <a:xfrm>
              <a:off x="8969000" y="1342950"/>
              <a:ext cx="29262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4" name="Google Shape;364;p33"/>
            <p:cNvCxnSpPr>
              <a:stCxn id="362" idx="3"/>
              <a:endCxn id="363" idx="1"/>
            </p:cNvCxnSpPr>
            <p:nvPr/>
          </p:nvCxnSpPr>
          <p:spPr>
            <a:xfrm>
              <a:off x="2819275" y="1713900"/>
              <a:ext cx="6149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65" name="Google Shape;365;p33"/>
          <p:cNvSpPr txBox="1"/>
          <p:nvPr/>
        </p:nvSpPr>
        <p:spPr>
          <a:xfrm>
            <a:off x="148475" y="2531700"/>
            <a:ext cx="25614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Autocomplete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(Copilot)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 txBox="1"/>
          <p:nvPr/>
        </p:nvSpPr>
        <p:spPr>
          <a:xfrm>
            <a:off x="2931750" y="2531700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Assistants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(ChatGPT)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 txBox="1"/>
          <p:nvPr/>
        </p:nvSpPr>
        <p:spPr>
          <a:xfrm>
            <a:off x="5072725" y="2531700"/>
            <a:ext cx="17553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AI-native IDEs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(Cursor)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 txBox="1"/>
          <p:nvPr/>
        </p:nvSpPr>
        <p:spPr>
          <a:xfrm>
            <a:off x="7049900" y="2531700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Agents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(Devin)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>
            <a:off x="9190875" y="2531700"/>
            <a:ext cx="26595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Full-stack App Builders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(Lovable)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4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380" name="Google Shape;38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381" name="Google Shape;38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" name="Google Shape;382;p34"/>
          <p:cNvGrpSpPr/>
          <p:nvPr/>
        </p:nvGrpSpPr>
        <p:grpSpPr>
          <a:xfrm>
            <a:off x="103675" y="1342950"/>
            <a:ext cx="11791525" cy="741900"/>
            <a:chOff x="103675" y="1342950"/>
            <a:chExt cx="11791525" cy="741900"/>
          </a:xfrm>
        </p:grpSpPr>
        <p:sp>
          <p:nvSpPr>
            <p:cNvPr id="383" name="Google Shape;383;p34"/>
            <p:cNvSpPr txBox="1"/>
            <p:nvPr/>
          </p:nvSpPr>
          <p:spPr>
            <a:xfrm>
              <a:off x="103675" y="1342950"/>
              <a:ext cx="27156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4"/>
            <p:cNvSpPr txBox="1"/>
            <p:nvPr/>
          </p:nvSpPr>
          <p:spPr>
            <a:xfrm>
              <a:off x="8969000" y="1342950"/>
              <a:ext cx="29262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" name="Google Shape;385;p34"/>
            <p:cNvCxnSpPr>
              <a:stCxn id="383" idx="3"/>
              <a:endCxn id="384" idx="1"/>
            </p:cNvCxnSpPr>
            <p:nvPr/>
          </p:nvCxnSpPr>
          <p:spPr>
            <a:xfrm>
              <a:off x="2819275" y="1713900"/>
              <a:ext cx="6149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86" name="Google Shape;386;p34"/>
          <p:cNvSpPr txBox="1"/>
          <p:nvPr/>
        </p:nvSpPr>
        <p:spPr>
          <a:xfrm>
            <a:off x="148475" y="2531700"/>
            <a:ext cx="25614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Autocomplete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(Copilot)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4"/>
          <p:cNvSpPr txBox="1"/>
          <p:nvPr/>
        </p:nvSpPr>
        <p:spPr>
          <a:xfrm>
            <a:off x="2931750" y="2531700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Assistants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(ChatGPT)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4"/>
          <p:cNvSpPr txBox="1"/>
          <p:nvPr/>
        </p:nvSpPr>
        <p:spPr>
          <a:xfrm>
            <a:off x="5072725" y="2531700"/>
            <a:ext cx="17553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AI-native IDEs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(Cursor)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4"/>
          <p:cNvSpPr txBox="1"/>
          <p:nvPr/>
        </p:nvSpPr>
        <p:spPr>
          <a:xfrm>
            <a:off x="7049900" y="2531700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Agents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(Devin)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9190875" y="2531700"/>
            <a:ext cx="26595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Full-stack App Builders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(Lovable)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34"/>
          <p:cNvCxnSpPr/>
          <p:nvPr/>
        </p:nvCxnSpPr>
        <p:spPr>
          <a:xfrm>
            <a:off x="595450" y="5482300"/>
            <a:ext cx="10861800" cy="30900"/>
          </a:xfrm>
          <a:prstGeom prst="straightConnector1">
            <a:avLst/>
          </a:prstGeom>
          <a:noFill/>
          <a:ln cap="flat" cmpd="sng" w="228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" name="Google Shape;392;p34"/>
          <p:cNvSpPr txBox="1"/>
          <p:nvPr/>
        </p:nvSpPr>
        <p:spPr>
          <a:xfrm>
            <a:off x="2843850" y="5513200"/>
            <a:ext cx="59958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Industry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5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5"/>
          <p:cNvSpPr txBox="1"/>
          <p:nvPr/>
        </p:nvSpPr>
        <p:spPr>
          <a:xfrm>
            <a:off x="3352647" y="6538140"/>
            <a:ext cx="5487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5"/>
          <p:cNvSpPr txBox="1"/>
          <p:nvPr/>
        </p:nvSpPr>
        <p:spPr>
          <a:xfrm>
            <a:off x="8991295" y="6473952"/>
            <a:ext cx="2926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404" name="Google Shape;40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40" cy="33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p35"/>
          <p:cNvGrpSpPr/>
          <p:nvPr/>
        </p:nvGrpSpPr>
        <p:grpSpPr>
          <a:xfrm>
            <a:off x="103675" y="1342950"/>
            <a:ext cx="11791525" cy="741900"/>
            <a:chOff x="103675" y="1342950"/>
            <a:chExt cx="11791525" cy="741900"/>
          </a:xfrm>
        </p:grpSpPr>
        <p:sp>
          <p:nvSpPr>
            <p:cNvPr id="406" name="Google Shape;406;p35"/>
            <p:cNvSpPr txBox="1"/>
            <p:nvPr/>
          </p:nvSpPr>
          <p:spPr>
            <a:xfrm>
              <a:off x="103675" y="1342950"/>
              <a:ext cx="27156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35"/>
            <p:cNvSpPr txBox="1"/>
            <p:nvPr/>
          </p:nvSpPr>
          <p:spPr>
            <a:xfrm>
              <a:off x="8969000" y="1342950"/>
              <a:ext cx="2926200" cy="7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 Autonomy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8" name="Google Shape;408;p35"/>
            <p:cNvCxnSpPr>
              <a:stCxn id="406" idx="3"/>
              <a:endCxn id="407" idx="1"/>
            </p:cNvCxnSpPr>
            <p:nvPr/>
          </p:nvCxnSpPr>
          <p:spPr>
            <a:xfrm>
              <a:off x="2819275" y="1713900"/>
              <a:ext cx="6149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09" name="Google Shape;409;p35"/>
          <p:cNvSpPr txBox="1"/>
          <p:nvPr/>
        </p:nvSpPr>
        <p:spPr>
          <a:xfrm>
            <a:off x="148475" y="2531700"/>
            <a:ext cx="25614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Autocomplete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(Copilot)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2931750" y="2531700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Assistants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(ChatGPT)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5072725" y="2531700"/>
            <a:ext cx="17553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AI-native IDEs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(Cursor)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7049900" y="2531700"/>
            <a:ext cx="19191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Agents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(Devin)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 txBox="1"/>
          <p:nvPr/>
        </p:nvSpPr>
        <p:spPr>
          <a:xfrm>
            <a:off x="9190875" y="2531700"/>
            <a:ext cx="2659500" cy="3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Full-stack App Builders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(Lovable)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35"/>
          <p:cNvCxnSpPr/>
          <p:nvPr/>
        </p:nvCxnSpPr>
        <p:spPr>
          <a:xfrm>
            <a:off x="595450" y="5482300"/>
            <a:ext cx="10861800" cy="30900"/>
          </a:xfrm>
          <a:prstGeom prst="straightConnector1">
            <a:avLst/>
          </a:prstGeom>
          <a:noFill/>
          <a:ln cap="flat" cmpd="sng" w="2286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35"/>
          <p:cNvSpPr txBox="1"/>
          <p:nvPr/>
        </p:nvSpPr>
        <p:spPr>
          <a:xfrm>
            <a:off x="2843850" y="5513200"/>
            <a:ext cx="59958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Industry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8969000" y="2023700"/>
            <a:ext cx="3001800" cy="3459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 rot="-2016601">
            <a:off x="8544690" y="3011009"/>
            <a:ext cx="3632818" cy="9502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 Influence</a:t>
            </a:r>
            <a:endParaRPr b="1" sz="5000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Guardrails: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426" name="Google Shape;4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" name="Google Shape;427;p36"/>
          <p:cNvGrpSpPr/>
          <p:nvPr/>
        </p:nvGrpSpPr>
        <p:grpSpPr>
          <a:xfrm>
            <a:off x="548763" y="2183028"/>
            <a:ext cx="10835640" cy="685800"/>
            <a:chOff x="472338" y="1730528"/>
            <a:chExt cx="10835640" cy="685800"/>
          </a:xfrm>
        </p:grpSpPr>
        <p:sp>
          <p:nvSpPr>
            <p:cNvPr id="428" name="Google Shape;428;p36"/>
            <p:cNvSpPr/>
            <p:nvPr/>
          </p:nvSpPr>
          <p:spPr>
            <a:xfrm>
              <a:off x="472338" y="1730528"/>
              <a:ext cx="594300" cy="6858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6"/>
            <p:cNvSpPr txBox="1"/>
            <p:nvPr/>
          </p:nvSpPr>
          <p:spPr>
            <a:xfrm>
              <a:off x="472338" y="1776247"/>
              <a:ext cx="594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6"/>
            <p:cNvSpPr txBox="1"/>
            <p:nvPr/>
          </p:nvSpPr>
          <p:spPr>
            <a:xfrm>
              <a:off x="1249578" y="1767104"/>
              <a:ext cx="10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C1C28"/>
                  </a:solidFill>
                  <a:latin typeface="Inter"/>
                  <a:ea typeface="Inter"/>
                  <a:cs typeface="Inter"/>
                  <a:sym typeface="Inter"/>
                </a:rPr>
                <a:t>Formatter enforcing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consistent code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p36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6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434" name="Google Shape;43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1850" y="1914524"/>
            <a:ext cx="3691575" cy="135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6625" y="2296037"/>
            <a:ext cx="15049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7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7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Guardrails: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445" name="Google Shape;44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37"/>
          <p:cNvGrpSpPr/>
          <p:nvPr/>
        </p:nvGrpSpPr>
        <p:grpSpPr>
          <a:xfrm>
            <a:off x="548763" y="2183028"/>
            <a:ext cx="10835640" cy="685800"/>
            <a:chOff x="472338" y="1730528"/>
            <a:chExt cx="10835640" cy="685800"/>
          </a:xfrm>
        </p:grpSpPr>
        <p:sp>
          <p:nvSpPr>
            <p:cNvPr id="447" name="Google Shape;447;p37"/>
            <p:cNvSpPr/>
            <p:nvPr/>
          </p:nvSpPr>
          <p:spPr>
            <a:xfrm>
              <a:off x="472338" y="1730528"/>
              <a:ext cx="594300" cy="6858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7"/>
            <p:cNvSpPr txBox="1"/>
            <p:nvPr/>
          </p:nvSpPr>
          <p:spPr>
            <a:xfrm>
              <a:off x="472338" y="1776247"/>
              <a:ext cx="594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37"/>
            <p:cNvSpPr txBox="1"/>
            <p:nvPr/>
          </p:nvSpPr>
          <p:spPr>
            <a:xfrm>
              <a:off x="1249578" y="1767104"/>
              <a:ext cx="10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C1C28"/>
                  </a:solidFill>
                  <a:latin typeface="Inter"/>
                  <a:ea typeface="Inter"/>
                  <a:cs typeface="Inter"/>
                  <a:sym typeface="Inter"/>
                </a:rPr>
                <a:t>Formatter enforcing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consistent code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548763" y="3410746"/>
            <a:ext cx="10835640" cy="685800"/>
            <a:chOff x="472338" y="3086090"/>
            <a:chExt cx="10835640" cy="685800"/>
          </a:xfrm>
        </p:grpSpPr>
        <p:sp>
          <p:nvSpPr>
            <p:cNvPr id="451" name="Google Shape;451;p37"/>
            <p:cNvSpPr/>
            <p:nvPr/>
          </p:nvSpPr>
          <p:spPr>
            <a:xfrm>
              <a:off x="472338" y="3086090"/>
              <a:ext cx="594300" cy="6858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37"/>
            <p:cNvSpPr txBox="1"/>
            <p:nvPr/>
          </p:nvSpPr>
          <p:spPr>
            <a:xfrm>
              <a:off x="472338" y="3131810"/>
              <a:ext cx="594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37"/>
            <p:cNvSpPr txBox="1"/>
            <p:nvPr/>
          </p:nvSpPr>
          <p:spPr>
            <a:xfrm>
              <a:off x="1249578" y="3122666"/>
              <a:ext cx="10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C1C28"/>
                  </a:solidFill>
                  <a:latin typeface="Inter"/>
                  <a:ea typeface="Inter"/>
                  <a:cs typeface="Inter"/>
                  <a:sym typeface="Inter"/>
                </a:rPr>
                <a:t>Linter, Security Scanners, (Reviewing) enforcing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consistent typing, coding standards, security standards, …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4" name="Google Shape;454;p37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7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7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457" name="Google Shape;4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1850" y="1914524"/>
            <a:ext cx="3691575" cy="135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6625" y="2296037"/>
            <a:ext cx="15049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5163" y="3410762"/>
            <a:ext cx="15049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7"/>
          <p:cNvSpPr txBox="1"/>
          <p:nvPr/>
        </p:nvSpPr>
        <p:spPr>
          <a:xfrm>
            <a:off x="9510000" y="3250700"/>
            <a:ext cx="1889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>
                <a:solidFill>
                  <a:srgbClr val="1F5082"/>
                </a:solidFill>
              </a:rPr>
              <a:t>mypy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81975" y="35250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6250" y="4121850"/>
            <a:ext cx="1504950" cy="4768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4" name="Google Shape;464;p37"/>
          <p:cNvGrpSpPr/>
          <p:nvPr/>
        </p:nvGrpSpPr>
        <p:grpSpPr>
          <a:xfrm>
            <a:off x="9948475" y="4207725"/>
            <a:ext cx="1969200" cy="411600"/>
            <a:chOff x="9948475" y="4207725"/>
            <a:chExt cx="1969200" cy="411600"/>
          </a:xfrm>
        </p:grpSpPr>
        <p:sp>
          <p:nvSpPr>
            <p:cNvPr id="465" name="Google Shape;465;p37"/>
            <p:cNvSpPr/>
            <p:nvPr/>
          </p:nvSpPr>
          <p:spPr>
            <a:xfrm>
              <a:off x="9948475" y="4207725"/>
              <a:ext cx="1969200" cy="41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6" name="Google Shape;466;p3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951550" y="4239202"/>
              <a:ext cx="1889100" cy="3542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8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8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Guardrails: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475" name="Google Shape;47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38"/>
          <p:cNvGrpSpPr/>
          <p:nvPr/>
        </p:nvGrpSpPr>
        <p:grpSpPr>
          <a:xfrm>
            <a:off x="548763" y="2183028"/>
            <a:ext cx="10835640" cy="685800"/>
            <a:chOff x="472338" y="1730528"/>
            <a:chExt cx="10835640" cy="685800"/>
          </a:xfrm>
        </p:grpSpPr>
        <p:sp>
          <p:nvSpPr>
            <p:cNvPr id="477" name="Google Shape;477;p38"/>
            <p:cNvSpPr/>
            <p:nvPr/>
          </p:nvSpPr>
          <p:spPr>
            <a:xfrm>
              <a:off x="472338" y="1730528"/>
              <a:ext cx="594300" cy="6858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38"/>
            <p:cNvSpPr txBox="1"/>
            <p:nvPr/>
          </p:nvSpPr>
          <p:spPr>
            <a:xfrm>
              <a:off x="472338" y="1776247"/>
              <a:ext cx="594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38"/>
            <p:cNvSpPr txBox="1"/>
            <p:nvPr/>
          </p:nvSpPr>
          <p:spPr>
            <a:xfrm>
              <a:off x="1249578" y="1767104"/>
              <a:ext cx="10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C1C28"/>
                  </a:solidFill>
                  <a:latin typeface="Inter"/>
                  <a:ea typeface="Inter"/>
                  <a:cs typeface="Inter"/>
                  <a:sym typeface="Inter"/>
                </a:rPr>
                <a:t>Formatter enforcing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consistent code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38"/>
          <p:cNvGrpSpPr/>
          <p:nvPr/>
        </p:nvGrpSpPr>
        <p:grpSpPr>
          <a:xfrm>
            <a:off x="548763" y="4638465"/>
            <a:ext cx="10835640" cy="685800"/>
            <a:chOff x="559688" y="4185965"/>
            <a:chExt cx="10835640" cy="685800"/>
          </a:xfrm>
        </p:grpSpPr>
        <p:sp>
          <p:nvSpPr>
            <p:cNvPr id="481" name="Google Shape;481;p38"/>
            <p:cNvSpPr/>
            <p:nvPr/>
          </p:nvSpPr>
          <p:spPr>
            <a:xfrm>
              <a:off x="559688" y="4185965"/>
              <a:ext cx="594300" cy="6858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38"/>
            <p:cNvSpPr txBox="1"/>
            <p:nvPr/>
          </p:nvSpPr>
          <p:spPr>
            <a:xfrm>
              <a:off x="559688" y="4231685"/>
              <a:ext cx="594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38"/>
            <p:cNvSpPr txBox="1"/>
            <p:nvPr/>
          </p:nvSpPr>
          <p:spPr>
            <a:xfrm>
              <a:off x="1336928" y="4222541"/>
              <a:ext cx="10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C1C28"/>
                  </a:solidFill>
                  <a:latin typeface="Inter"/>
                  <a:ea typeface="Inter"/>
                  <a:cs typeface="Inter"/>
                  <a:sym typeface="Inter"/>
                </a:rPr>
                <a:t>Test Suite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correct behaviour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38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8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8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487" name="Google Shape;48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1850" y="1914524"/>
            <a:ext cx="3691575" cy="135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6625" y="2296037"/>
            <a:ext cx="1504950" cy="590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0" name="Google Shape;490;p38"/>
          <p:cNvGrpSpPr/>
          <p:nvPr/>
        </p:nvGrpSpPr>
        <p:grpSpPr>
          <a:xfrm>
            <a:off x="548763" y="3410746"/>
            <a:ext cx="10835640" cy="685800"/>
            <a:chOff x="472338" y="3086090"/>
            <a:chExt cx="10835640" cy="685800"/>
          </a:xfrm>
        </p:grpSpPr>
        <p:sp>
          <p:nvSpPr>
            <p:cNvPr id="491" name="Google Shape;491;p38"/>
            <p:cNvSpPr/>
            <p:nvPr/>
          </p:nvSpPr>
          <p:spPr>
            <a:xfrm>
              <a:off x="472338" y="3086090"/>
              <a:ext cx="594300" cy="6858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38"/>
            <p:cNvSpPr txBox="1"/>
            <p:nvPr/>
          </p:nvSpPr>
          <p:spPr>
            <a:xfrm>
              <a:off x="472338" y="3131810"/>
              <a:ext cx="594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8"/>
            <p:cNvSpPr txBox="1"/>
            <p:nvPr/>
          </p:nvSpPr>
          <p:spPr>
            <a:xfrm>
              <a:off x="1249578" y="3122666"/>
              <a:ext cx="10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C1C28"/>
                  </a:solidFill>
                  <a:latin typeface="Inter"/>
                  <a:ea typeface="Inter"/>
                  <a:cs typeface="Inter"/>
                  <a:sym typeface="Inter"/>
                </a:rPr>
                <a:t>Linter, Security Scanners, (Reviewing) enforcing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consistent typing, coding standards, security standards, …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4" name="Google Shape;49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5163" y="3410762"/>
            <a:ext cx="15049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8"/>
          <p:cNvSpPr txBox="1"/>
          <p:nvPr/>
        </p:nvSpPr>
        <p:spPr>
          <a:xfrm>
            <a:off x="9510000" y="3250700"/>
            <a:ext cx="1889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>
                <a:solidFill>
                  <a:srgbClr val="1F5082"/>
                </a:solidFill>
              </a:rPr>
              <a:t>mypy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81975" y="35250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6250" y="4121850"/>
            <a:ext cx="1504950" cy="4768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p38"/>
          <p:cNvGrpSpPr/>
          <p:nvPr/>
        </p:nvGrpSpPr>
        <p:grpSpPr>
          <a:xfrm>
            <a:off x="9948475" y="4207725"/>
            <a:ext cx="1969200" cy="411600"/>
            <a:chOff x="9948475" y="4207725"/>
            <a:chExt cx="1969200" cy="411600"/>
          </a:xfrm>
        </p:grpSpPr>
        <p:sp>
          <p:nvSpPr>
            <p:cNvPr id="499" name="Google Shape;499;p38"/>
            <p:cNvSpPr/>
            <p:nvPr/>
          </p:nvSpPr>
          <p:spPr>
            <a:xfrm>
              <a:off x="9948475" y="4207725"/>
              <a:ext cx="1969200" cy="4116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0" name="Google Shape;500;p3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951550" y="4239202"/>
              <a:ext cx="1889100" cy="3542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9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9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9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Guardrails: 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509" name="Google Shape;5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0" name="Google Shape;510;p39"/>
          <p:cNvGrpSpPr/>
          <p:nvPr/>
        </p:nvGrpSpPr>
        <p:grpSpPr>
          <a:xfrm>
            <a:off x="548763" y="2183028"/>
            <a:ext cx="10835640" cy="685800"/>
            <a:chOff x="472338" y="1730528"/>
            <a:chExt cx="10835640" cy="685800"/>
          </a:xfrm>
        </p:grpSpPr>
        <p:sp>
          <p:nvSpPr>
            <p:cNvPr id="511" name="Google Shape;511;p39"/>
            <p:cNvSpPr/>
            <p:nvPr/>
          </p:nvSpPr>
          <p:spPr>
            <a:xfrm>
              <a:off x="472338" y="1730528"/>
              <a:ext cx="594300" cy="6858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39"/>
            <p:cNvSpPr txBox="1"/>
            <p:nvPr/>
          </p:nvSpPr>
          <p:spPr>
            <a:xfrm>
              <a:off x="472338" y="1776247"/>
              <a:ext cx="594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9"/>
            <p:cNvSpPr txBox="1"/>
            <p:nvPr/>
          </p:nvSpPr>
          <p:spPr>
            <a:xfrm>
              <a:off x="1249578" y="1767104"/>
              <a:ext cx="10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C1C28"/>
                  </a:solidFill>
                  <a:latin typeface="Inter"/>
                  <a:ea typeface="Inter"/>
                  <a:cs typeface="Inter"/>
                  <a:sym typeface="Inter"/>
                </a:rPr>
                <a:t>Formatter enforcing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consistent code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4" name="Google Shape;514;p39"/>
          <p:cNvGrpSpPr/>
          <p:nvPr/>
        </p:nvGrpSpPr>
        <p:grpSpPr>
          <a:xfrm>
            <a:off x="548763" y="4638465"/>
            <a:ext cx="10835640" cy="685800"/>
            <a:chOff x="559688" y="4185965"/>
            <a:chExt cx="10835640" cy="685800"/>
          </a:xfrm>
        </p:grpSpPr>
        <p:sp>
          <p:nvSpPr>
            <p:cNvPr id="515" name="Google Shape;515;p39"/>
            <p:cNvSpPr/>
            <p:nvPr/>
          </p:nvSpPr>
          <p:spPr>
            <a:xfrm>
              <a:off x="559688" y="4185965"/>
              <a:ext cx="594300" cy="6858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39"/>
            <p:cNvSpPr txBox="1"/>
            <p:nvPr/>
          </p:nvSpPr>
          <p:spPr>
            <a:xfrm>
              <a:off x="559688" y="4231685"/>
              <a:ext cx="594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39"/>
            <p:cNvSpPr txBox="1"/>
            <p:nvPr/>
          </p:nvSpPr>
          <p:spPr>
            <a:xfrm>
              <a:off x="1336928" y="4222541"/>
              <a:ext cx="10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C1C28"/>
                  </a:solidFill>
                  <a:latin typeface="Inter"/>
                  <a:ea typeface="Inter"/>
                  <a:cs typeface="Inter"/>
                  <a:sym typeface="Inter"/>
                </a:rPr>
                <a:t>Test Suite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correct behaviour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39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9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9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521" name="Google Shape;52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2" name="Google Shape;522;p39"/>
          <p:cNvGrpSpPr/>
          <p:nvPr/>
        </p:nvGrpSpPr>
        <p:grpSpPr>
          <a:xfrm>
            <a:off x="548763" y="3410746"/>
            <a:ext cx="10835640" cy="685800"/>
            <a:chOff x="472338" y="3086090"/>
            <a:chExt cx="10835640" cy="685800"/>
          </a:xfrm>
        </p:grpSpPr>
        <p:sp>
          <p:nvSpPr>
            <p:cNvPr id="523" name="Google Shape;523;p39"/>
            <p:cNvSpPr/>
            <p:nvPr/>
          </p:nvSpPr>
          <p:spPr>
            <a:xfrm>
              <a:off x="472338" y="3086090"/>
              <a:ext cx="594300" cy="685800"/>
            </a:xfrm>
            <a:prstGeom prst="rect">
              <a:avLst/>
            </a:prstGeom>
            <a:solidFill>
              <a:srgbClr val="1C1C2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39"/>
            <p:cNvSpPr txBox="1"/>
            <p:nvPr/>
          </p:nvSpPr>
          <p:spPr>
            <a:xfrm>
              <a:off x="472338" y="3131810"/>
              <a:ext cx="594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39"/>
            <p:cNvSpPr txBox="1"/>
            <p:nvPr/>
          </p:nvSpPr>
          <p:spPr>
            <a:xfrm>
              <a:off x="1249578" y="3122666"/>
              <a:ext cx="10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C1C28"/>
                  </a:solidFill>
                  <a:latin typeface="Inter"/>
                  <a:ea typeface="Inter"/>
                  <a:cs typeface="Inter"/>
                  <a:sym typeface="Inter"/>
                </a:rPr>
                <a:t>Linter, Security Scanners, (Reviewing) enforcing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consistent typing, coding standards, security standards, …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39"/>
          <p:cNvSpPr/>
          <p:nvPr/>
        </p:nvSpPr>
        <p:spPr>
          <a:xfrm>
            <a:off x="229325" y="4335400"/>
            <a:ext cx="2926500" cy="1299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0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0"/>
          <p:cNvSpPr txBox="1"/>
          <p:nvPr/>
        </p:nvSpPr>
        <p:spPr>
          <a:xfrm>
            <a:off x="914400" y="914400"/>
            <a:ext cx="10493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2563EB"/>
                </a:solidFill>
              </a:rPr>
              <a:t>We need a Workflow that guarantees tests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0"/>
          <p:cNvSpPr/>
          <p:nvPr/>
        </p:nvSpPr>
        <p:spPr>
          <a:xfrm>
            <a:off x="914400" y="3469507"/>
            <a:ext cx="45720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40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1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1"/>
          <p:cNvSpPr txBox="1"/>
          <p:nvPr/>
        </p:nvSpPr>
        <p:spPr>
          <a:xfrm>
            <a:off x="914400" y="914400"/>
            <a:ext cx="10493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2563EB"/>
                </a:solidFill>
              </a:rPr>
              <a:t>A</a:t>
            </a:r>
            <a:r>
              <a:rPr b="1" lang="en-US" sz="8000">
                <a:solidFill>
                  <a:srgbClr val="2563EB"/>
                </a:solidFill>
              </a:rPr>
              <a:t> Workflow that guarantees tests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1"/>
          <p:cNvSpPr txBox="1"/>
          <p:nvPr/>
        </p:nvSpPr>
        <p:spPr>
          <a:xfrm>
            <a:off x="914400" y="3872250"/>
            <a:ext cx="91440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</a:rPr>
              <a:t>Test-Driven Development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1"/>
          <p:cNvSpPr/>
          <p:nvPr/>
        </p:nvSpPr>
        <p:spPr>
          <a:xfrm>
            <a:off x="914400" y="3469507"/>
            <a:ext cx="45720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41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2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" name="Google Shape;555;p42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2"/>
          <p:cNvSpPr txBox="1"/>
          <p:nvPr/>
        </p:nvSpPr>
        <p:spPr>
          <a:xfrm>
            <a:off x="417426" y="1121271"/>
            <a:ext cx="6180300" cy="4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  <a:p>
            <a:pPr indent="-457200" lvl="0" marL="609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en-US" sz="2400">
                <a:solidFill>
                  <a:schemeClr val="lt2"/>
                </a:solidFill>
              </a:rPr>
              <a:t>Write a failing test</a:t>
            </a:r>
            <a:br>
              <a:rPr lang="en-US" sz="2400">
                <a:solidFill>
                  <a:schemeClr val="lt2"/>
                </a:solidFill>
              </a:rPr>
            </a:br>
            <a:r>
              <a:rPr lang="en-US" sz="2400">
                <a:solidFill>
                  <a:schemeClr val="lt2"/>
                </a:solidFill>
              </a:rPr>
              <a:t>(specify a desired behaviour)</a:t>
            </a:r>
            <a:endParaRPr sz="24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  <a:p>
            <a:pPr indent="-457200" lvl="0" marL="609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en-US" sz="2400">
                <a:solidFill>
                  <a:schemeClr val="lt2"/>
                </a:solidFill>
              </a:rPr>
              <a:t>Write production code to make it pass</a:t>
            </a:r>
            <a:endParaRPr sz="2400">
              <a:solidFill>
                <a:schemeClr val="lt2"/>
              </a:solidFill>
            </a:endParaRPr>
          </a:p>
          <a:p>
            <a:pPr indent="0" lvl="0" marL="609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2"/>
                </a:solidFill>
              </a:rPr>
              <a:t>(implement the behaviour)</a:t>
            </a:r>
            <a:endParaRPr sz="24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  <a:p>
            <a:pPr indent="-457200" lvl="0" marL="609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</a:pPr>
            <a:r>
              <a:rPr lang="en-US" sz="2400">
                <a:solidFill>
                  <a:schemeClr val="lt2"/>
                </a:solidFill>
              </a:rPr>
              <a:t>Refactor the solution</a:t>
            </a:r>
            <a:br>
              <a:rPr lang="en-US" sz="2400">
                <a:solidFill>
                  <a:schemeClr val="lt2"/>
                </a:solidFill>
              </a:rPr>
            </a:br>
            <a:r>
              <a:rPr lang="en-US" sz="2400">
                <a:solidFill>
                  <a:schemeClr val="lt2"/>
                </a:solidFill>
              </a:rPr>
              <a:t>(clean the code up, look at design)</a:t>
            </a:r>
            <a:endParaRPr sz="2400">
              <a:solidFill>
                <a:schemeClr val="lt2"/>
              </a:solidFill>
            </a:endParaRPr>
          </a:p>
        </p:txBody>
      </p:sp>
      <p:grpSp>
        <p:nvGrpSpPr>
          <p:cNvPr id="557" name="Google Shape;557;p42"/>
          <p:cNvGrpSpPr/>
          <p:nvPr/>
        </p:nvGrpSpPr>
        <p:grpSpPr>
          <a:xfrm>
            <a:off x="7297075" y="1518525"/>
            <a:ext cx="4267997" cy="3820975"/>
            <a:chOff x="2588913" y="994750"/>
            <a:chExt cx="4267997" cy="3820975"/>
          </a:xfrm>
        </p:grpSpPr>
        <p:sp>
          <p:nvSpPr>
            <p:cNvPr id="558" name="Google Shape;558;p42"/>
            <p:cNvSpPr/>
            <p:nvPr/>
          </p:nvSpPr>
          <p:spPr>
            <a:xfrm>
              <a:off x="3839250" y="1015150"/>
              <a:ext cx="1761600" cy="1728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2"/>
            <p:cNvSpPr/>
            <p:nvPr/>
          </p:nvSpPr>
          <p:spPr>
            <a:xfrm>
              <a:off x="5012125" y="3067325"/>
              <a:ext cx="1761600" cy="1728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2"/>
            <p:cNvSpPr/>
            <p:nvPr/>
          </p:nvSpPr>
          <p:spPr>
            <a:xfrm>
              <a:off x="2672100" y="3067325"/>
              <a:ext cx="1761600" cy="1728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2"/>
            <p:cNvSpPr/>
            <p:nvPr/>
          </p:nvSpPr>
          <p:spPr>
            <a:xfrm rot="-3593125">
              <a:off x="2461894" y="2188245"/>
              <a:ext cx="2825818" cy="1141639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2"/>
            <p:cNvSpPr/>
            <p:nvPr/>
          </p:nvSpPr>
          <p:spPr>
            <a:xfrm rot="10800000">
              <a:off x="3329099" y="3653519"/>
              <a:ext cx="2825700" cy="1141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2"/>
            <p:cNvSpPr/>
            <p:nvPr/>
          </p:nvSpPr>
          <p:spPr>
            <a:xfrm rot="3602451">
              <a:off x="4160625" y="2188204"/>
              <a:ext cx="2825891" cy="1141736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2"/>
            <p:cNvSpPr/>
            <p:nvPr/>
          </p:nvSpPr>
          <p:spPr>
            <a:xfrm>
              <a:off x="3658050" y="1930075"/>
              <a:ext cx="2091900" cy="233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88913" y="994750"/>
              <a:ext cx="4267997" cy="3820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3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3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Laws of Test-Driven Development (TDD)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574" name="Google Shape;5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3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3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578" name="Google Shape;57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3"/>
          <p:cNvSpPr txBox="1"/>
          <p:nvPr>
            <p:ph idx="4294967295" type="body"/>
          </p:nvPr>
        </p:nvSpPr>
        <p:spPr>
          <a:xfrm>
            <a:off x="415589" y="1536633"/>
            <a:ext cx="53058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09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476250" lvl="0" marL="609600" rtl="0" algn="l">
              <a:spcBef>
                <a:spcPts val="0"/>
              </a:spcBef>
              <a:spcAft>
                <a:spcPts val="0"/>
              </a:spcAft>
              <a:buSzPts val="2700"/>
              <a:buAutoNum type="arabicPeriod"/>
            </a:pPr>
            <a:r>
              <a:rPr lang="en-US" sz="2700"/>
              <a:t>Only write production code to make a failing test pass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476250" lvl="0" marL="609600" rtl="0" algn="l">
              <a:spcBef>
                <a:spcPts val="0"/>
              </a:spcBef>
              <a:spcAft>
                <a:spcPts val="0"/>
              </a:spcAft>
              <a:buSzPts val="2700"/>
              <a:buAutoNum type="arabicPeriod"/>
            </a:pPr>
            <a:r>
              <a:rPr lang="en-US" sz="2700"/>
              <a:t>Don’t write more test code than is sufficient to fail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476250" lvl="0" marL="609600" rtl="0" algn="l">
              <a:spcBef>
                <a:spcPts val="0"/>
              </a:spcBef>
              <a:spcAft>
                <a:spcPts val="0"/>
              </a:spcAft>
              <a:buSzPts val="2700"/>
              <a:buAutoNum type="arabicPeriod"/>
            </a:pPr>
            <a:r>
              <a:rPr lang="en-US" sz="2700"/>
              <a:t>Don’t write more production code than is sufficient to pass a failing test</a:t>
            </a:r>
            <a:endParaRPr sz="2700"/>
          </a:p>
        </p:txBody>
      </p:sp>
      <p:grpSp>
        <p:nvGrpSpPr>
          <p:cNvPr id="580" name="Google Shape;580;p43"/>
          <p:cNvGrpSpPr/>
          <p:nvPr/>
        </p:nvGrpSpPr>
        <p:grpSpPr>
          <a:xfrm>
            <a:off x="7297075" y="1518525"/>
            <a:ext cx="4267997" cy="3820975"/>
            <a:chOff x="2588913" y="994750"/>
            <a:chExt cx="4267997" cy="3820975"/>
          </a:xfrm>
        </p:grpSpPr>
        <p:sp>
          <p:nvSpPr>
            <p:cNvPr id="581" name="Google Shape;581;p43"/>
            <p:cNvSpPr/>
            <p:nvPr/>
          </p:nvSpPr>
          <p:spPr>
            <a:xfrm>
              <a:off x="3839250" y="1015150"/>
              <a:ext cx="1761600" cy="1728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3"/>
            <p:cNvSpPr/>
            <p:nvPr/>
          </p:nvSpPr>
          <p:spPr>
            <a:xfrm>
              <a:off x="5012125" y="3067325"/>
              <a:ext cx="1761600" cy="1728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3"/>
            <p:cNvSpPr/>
            <p:nvPr/>
          </p:nvSpPr>
          <p:spPr>
            <a:xfrm>
              <a:off x="2672100" y="3067325"/>
              <a:ext cx="1761600" cy="1728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3"/>
            <p:cNvSpPr/>
            <p:nvPr/>
          </p:nvSpPr>
          <p:spPr>
            <a:xfrm rot="-3593125">
              <a:off x="2461894" y="2188245"/>
              <a:ext cx="2825818" cy="1141639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3"/>
            <p:cNvSpPr/>
            <p:nvPr/>
          </p:nvSpPr>
          <p:spPr>
            <a:xfrm rot="10800000">
              <a:off x="3329099" y="3653519"/>
              <a:ext cx="2825700" cy="1141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3"/>
            <p:cNvSpPr/>
            <p:nvPr/>
          </p:nvSpPr>
          <p:spPr>
            <a:xfrm rot="3602451">
              <a:off x="4160625" y="2188204"/>
              <a:ext cx="2825891" cy="1141736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3"/>
            <p:cNvSpPr/>
            <p:nvPr/>
          </p:nvSpPr>
          <p:spPr>
            <a:xfrm>
              <a:off x="3658050" y="1930075"/>
              <a:ext cx="2091900" cy="233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8" name="Google Shape;588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88913" y="994750"/>
              <a:ext cx="4267997" cy="3820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4"/>
          <p:cNvSpPr/>
          <p:nvPr/>
        </p:nvSpPr>
        <p:spPr>
          <a:xfrm>
            <a:off x="-12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4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TDD Side Effects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597" name="Google Shape;59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4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4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4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601" name="Google Shape;60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4"/>
          <p:cNvSpPr txBox="1"/>
          <p:nvPr/>
        </p:nvSpPr>
        <p:spPr>
          <a:xfrm>
            <a:off x="224425" y="1385858"/>
            <a:ext cx="46398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6000" lIns="126000" spcFirstLastPara="1" rIns="126000" wrap="square" tIns="126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C1C28"/>
                </a:solidFill>
              </a:rPr>
              <a:t>6-35% slower</a:t>
            </a:r>
            <a:endParaRPr b="1" sz="3000">
              <a:solidFill>
                <a:srgbClr val="1C1C2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6">
                <a:solidFill>
                  <a:srgbClr val="1C1C28"/>
                </a:solidFill>
              </a:rPr>
              <a:t>40-80% fewer defects</a:t>
            </a:r>
            <a:endParaRPr b="1" sz="2756">
              <a:solidFill>
                <a:srgbClr val="1C1C2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56">
              <a:solidFill>
                <a:srgbClr val="1C1C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8">
              <a:solidFill>
                <a:srgbClr val="1C1C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5">
                <a:solidFill>
                  <a:srgbClr val="1C1C28"/>
                </a:solidFill>
              </a:rPr>
              <a:t>Jeffries, Ron, and Grigori Melnik. "Guest Editors' Introduction: TDD--The Art of Fearless Programming." </a:t>
            </a:r>
            <a:br>
              <a:rPr lang="en-US" sz="2205">
                <a:solidFill>
                  <a:srgbClr val="1C1C28"/>
                </a:solidFill>
              </a:rPr>
            </a:br>
            <a:r>
              <a:rPr lang="en-US" sz="2205">
                <a:solidFill>
                  <a:srgbClr val="1C1C28"/>
                </a:solidFill>
              </a:rPr>
              <a:t>IEEE Software 24.3 (2007): 24-30.</a:t>
            </a:r>
            <a:endParaRPr sz="2205">
              <a:solidFill>
                <a:srgbClr val="1C1C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81">
              <a:solidFill>
                <a:srgbClr val="1C1C2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54"/>
              </a:spcAft>
              <a:buNone/>
            </a:pPr>
            <a:r>
              <a:t/>
            </a:r>
            <a:endParaRPr sz="2481">
              <a:solidFill>
                <a:srgbClr val="1C1C28"/>
              </a:solidFill>
            </a:endParaRPr>
          </a:p>
        </p:txBody>
      </p:sp>
      <p:pic>
        <p:nvPicPr>
          <p:cNvPr id="603" name="Google Shape;60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9618" y="1200150"/>
            <a:ext cx="6897629" cy="5107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5"/>
          <p:cNvSpPr/>
          <p:nvPr/>
        </p:nvSpPr>
        <p:spPr>
          <a:xfrm>
            <a:off x="-12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5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TDD Side Effects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612" name="Google Shape;61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5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5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5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5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616" name="Google Shape;61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5"/>
          <p:cNvSpPr txBox="1"/>
          <p:nvPr/>
        </p:nvSpPr>
        <p:spPr>
          <a:xfrm>
            <a:off x="1295243" y="2905795"/>
            <a:ext cx="9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C1C28"/>
                </a:solidFill>
              </a:rPr>
              <a:t>You naturally build up a comprehensive test suite!</a:t>
            </a:r>
            <a:endParaRPr b="0" i="0" sz="1800" u="none" cap="none" strike="noStrike">
              <a:solidFill>
                <a:srgbClr val="1C1C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6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46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6" title="link-qr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1901" y="1175075"/>
            <a:ext cx="4507899" cy="4507899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6"/>
          <p:cNvSpPr txBox="1"/>
          <p:nvPr/>
        </p:nvSpPr>
        <p:spPr>
          <a:xfrm>
            <a:off x="1986750" y="419600"/>
            <a:ext cx="82182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https://github.com/Code-Praxis/pycon-at-2026-workshop-ai-tdd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7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7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Exercise: Shipping Costs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7"/>
          <p:cNvSpPr txBox="1"/>
          <p:nvPr/>
        </p:nvSpPr>
        <p:spPr>
          <a:xfrm>
            <a:off x="457200" y="1280150"/>
            <a:ext cx="11460300" cy="49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application must calculate shipping costs based on the following rules: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 Rate: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5.00 € flat fee for any shipment.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b="1"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Weight Tiers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- 0 to 5 kg: 1.00 € per kg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- Over 5 kg to 20 kg: 1.50 € per kg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- Over 20 kg: 2.00 € per kg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b="1"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Distance Zones: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- Zone A (Local): 1x multiplier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- Zone B (Domestic): 1.5x multiplier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- Zone C (International): 2.5x multiplier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b="1"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Express Delivery: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Adds a flat 15.00 € surcharge *after* all other calculations.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</a:t>
            </a:r>
            <a:r>
              <a:rPr b="1"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Edge Cases:</a:t>
            </a:r>
            <a:endParaRPr b="1"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- Negative weight or distance should raise an `ValueError`.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- Maximum weight is 100 kg; exceeding this raises a `ValueError`.</a:t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4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7"/>
          <p:cNvSpPr txBox="1"/>
          <p:nvPr/>
        </p:nvSpPr>
        <p:spPr>
          <a:xfrm>
            <a:off x="3352647" y="6538140"/>
            <a:ext cx="5487119" cy="22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7"/>
          <p:cNvSpPr txBox="1"/>
          <p:nvPr/>
        </p:nvSpPr>
        <p:spPr>
          <a:xfrm>
            <a:off x="8991295" y="647395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640" name="Google Shape;64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long-white.png" id="641" name="Google Shape;64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" y="6489069"/>
            <a:ext cx="1829737" cy="332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8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8"/>
          <p:cNvSpPr txBox="1"/>
          <p:nvPr/>
        </p:nvSpPr>
        <p:spPr>
          <a:xfrm>
            <a:off x="1097280" y="1645920"/>
            <a:ext cx="9601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Manual TDD </a:t>
            </a:r>
            <a:r>
              <a:rPr b="1" lang="en-US" sz="2800">
                <a:solidFill>
                  <a:srgbClr val="F8FAFC"/>
                </a:solidFill>
              </a:rPr>
              <a:t>Exercise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i="1"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understand the 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0" name="Google Shape;650;p48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9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9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9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rgbClr val="F8FAFC"/>
                </a:solidFill>
              </a:rPr>
              <a:t>Retrospective with focus on the 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9"/>
          <p:cNvSpPr/>
          <p:nvPr/>
        </p:nvSpPr>
        <p:spPr>
          <a:xfrm>
            <a:off x="457200" y="1280160"/>
            <a:ext cx="36600" cy="438900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9"/>
          <p:cNvSpPr txBox="1"/>
          <p:nvPr/>
        </p:nvSpPr>
        <p:spPr>
          <a:xfrm>
            <a:off x="640080" y="1280160"/>
            <a:ext cx="5303400" cy="2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C1C28"/>
                </a:solidFill>
              </a:rPr>
              <a:t>Cons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Slow(er)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the effort (twice as much to maintain)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Rigid rigour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to how programming is taught / learned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9"/>
          <p:cNvSpPr/>
          <p:nvPr/>
        </p:nvSpPr>
        <p:spPr>
          <a:xfrm>
            <a:off x="6217920" y="1280160"/>
            <a:ext cx="9000" cy="4389000"/>
          </a:xfrm>
          <a:prstGeom prst="rect">
            <a:avLst/>
          </a:prstGeom>
          <a:solidFill>
            <a:srgbClr val="94A3B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9"/>
          <p:cNvSpPr/>
          <p:nvPr/>
        </p:nvSpPr>
        <p:spPr>
          <a:xfrm>
            <a:off x="6400800" y="1280160"/>
            <a:ext cx="36600" cy="4389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9"/>
          <p:cNvSpPr txBox="1"/>
          <p:nvPr/>
        </p:nvSpPr>
        <p:spPr>
          <a:xfrm>
            <a:off x="6583680" y="1280160"/>
            <a:ext cx="5120700" cy="3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C1C28"/>
                </a:solidFill>
              </a:rPr>
              <a:t>Pros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iterations/improvements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 feedback loop (on correctness and design)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Behaviour specifications are tested repeatedly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step to improve the code/design/architecture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roles for each step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9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9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9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668" name="Google Shape;66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0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0"/>
          <p:cNvSpPr txBox="1"/>
          <p:nvPr/>
        </p:nvSpPr>
        <p:spPr>
          <a:xfrm>
            <a:off x="1097280" y="1645920"/>
            <a:ext cx="9601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Prompt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i="1"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get started with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7" name="Google Shape;677;p50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1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1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Retrospective on Prompting Only</a:t>
            </a:r>
            <a:endParaRPr b="1" sz="2800">
              <a:solidFill>
                <a:srgbClr val="F8FAFC"/>
              </a:solidFill>
            </a:endParaRPr>
          </a:p>
        </p:txBody>
      </p:sp>
      <p:sp>
        <p:nvSpPr>
          <p:cNvPr id="686" name="Google Shape;686;p51"/>
          <p:cNvSpPr/>
          <p:nvPr/>
        </p:nvSpPr>
        <p:spPr>
          <a:xfrm>
            <a:off x="457200" y="1280160"/>
            <a:ext cx="36600" cy="4389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1"/>
          <p:cNvSpPr txBox="1"/>
          <p:nvPr/>
        </p:nvSpPr>
        <p:spPr>
          <a:xfrm>
            <a:off x="602988" y="1612650"/>
            <a:ext cx="10985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the code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is more difficult than writing -&gt; LGTM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Cognitive Debt : Your Brain on ChatGPT: Accumulation of Cognitive Debt when Using an AI Assistant for Essay Writing Task - Kosmyna et al. (Artificial Intelligence) -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https://arxiv.org/abs/2506.08872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Comprehension Debt: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https://margaretstorey.com/blog/2026/02/09/cognitive-debt/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https://martinfowler.com/fragments/2026-02-13.html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spcBef>
                <a:spcPts val="10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Kill the Code Review -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https://www.latent.space/p/reviews-dead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688" name="Google Shape;688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1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51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51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692" name="Google Shape;692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2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2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2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Retrospective on Prompting Only</a:t>
            </a:r>
            <a:endParaRPr b="1" sz="2800">
              <a:solidFill>
                <a:srgbClr val="F8FAFC"/>
              </a:solidFill>
            </a:endParaRPr>
          </a:p>
        </p:txBody>
      </p:sp>
      <p:sp>
        <p:nvSpPr>
          <p:cNvPr id="701" name="Google Shape;701;p52"/>
          <p:cNvSpPr/>
          <p:nvPr/>
        </p:nvSpPr>
        <p:spPr>
          <a:xfrm>
            <a:off x="457200" y="1280160"/>
            <a:ext cx="36600" cy="4389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2"/>
          <p:cNvSpPr txBox="1"/>
          <p:nvPr/>
        </p:nvSpPr>
        <p:spPr>
          <a:xfrm>
            <a:off x="602988" y="1920600"/>
            <a:ext cx="109857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Anthropic RCT (2025/2026) -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https://www.anthropic.com/research/AI-assistance-coding-skills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 junior engineers learning a new library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coding group: 67%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AI-assisted group: 50%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delegation to AI: Below 40% (effectively failing)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largest gap appeared in debugging and skill to validate AI code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703" name="Google Shape;70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52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2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2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707" name="Google Shape;70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3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3"/>
          <p:cNvSpPr txBox="1"/>
          <p:nvPr/>
        </p:nvSpPr>
        <p:spPr>
          <a:xfrm>
            <a:off x="457200" y="137160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rgbClr val="F8FAFC"/>
                </a:solidFill>
              </a:rPr>
              <a:t>Retrospective on Prompting Only</a:t>
            </a:r>
            <a:endParaRPr b="1" sz="2800">
              <a:solidFill>
                <a:srgbClr val="F8FA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8FAFC"/>
              </a:solidFill>
            </a:endParaRPr>
          </a:p>
        </p:txBody>
      </p:sp>
      <p:sp>
        <p:nvSpPr>
          <p:cNvPr id="716" name="Google Shape;716;p53"/>
          <p:cNvSpPr/>
          <p:nvPr/>
        </p:nvSpPr>
        <p:spPr>
          <a:xfrm>
            <a:off x="457200" y="1280160"/>
            <a:ext cx="36600" cy="4389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3"/>
          <p:cNvSpPr txBox="1"/>
          <p:nvPr/>
        </p:nvSpPr>
        <p:spPr>
          <a:xfrm>
            <a:off x="603588" y="1386500"/>
            <a:ext cx="10985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 RCT (July 2025) -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https://metr.org/blog/2025-07-10-early-2025-ai-experienced-os-dev-study/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○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experienced open-source developers, 246 real issues, their own codebases: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○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speed gain (before study):  +24%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○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Perceived speed gain (after study): +20%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718" name="Google Shape;71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3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3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53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722" name="Google Shape;72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54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4"/>
          <p:cNvSpPr txBox="1"/>
          <p:nvPr/>
        </p:nvSpPr>
        <p:spPr>
          <a:xfrm>
            <a:off x="457200" y="137160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rgbClr val="F8FAFC"/>
                </a:solidFill>
              </a:rPr>
              <a:t>Retrospective on Prompting Only</a:t>
            </a:r>
            <a:endParaRPr b="1" sz="2800">
              <a:solidFill>
                <a:srgbClr val="F8FA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8FAFC"/>
              </a:solidFill>
            </a:endParaRPr>
          </a:p>
        </p:txBody>
      </p:sp>
      <p:sp>
        <p:nvSpPr>
          <p:cNvPr id="731" name="Google Shape;731;p54"/>
          <p:cNvSpPr/>
          <p:nvPr/>
        </p:nvSpPr>
        <p:spPr>
          <a:xfrm>
            <a:off x="457200" y="1280160"/>
            <a:ext cx="36600" cy="4389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4"/>
          <p:cNvSpPr txBox="1"/>
          <p:nvPr/>
        </p:nvSpPr>
        <p:spPr>
          <a:xfrm>
            <a:off x="603588" y="1386500"/>
            <a:ext cx="10985700" cy="4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 RCT (July 2025) - </a:t>
            </a:r>
            <a:r>
              <a:rPr lang="en-US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https://metr.org/blog/2025-07-10-early-2025-ai-experienced-os-dev-study/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○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experienced open-source developers, 246 real issues, their own codebases: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○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Predicted speed gain (before study):  +24%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○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Perceived speed gain (after study): +20%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spcBef>
                <a:spcPts val="1000"/>
              </a:spcBef>
              <a:spcAft>
                <a:spcPts val="400"/>
              </a:spcAft>
              <a:buClr>
                <a:schemeClr val="dk1"/>
              </a:buClr>
              <a:buSzPts val="2300"/>
              <a:buFont typeface="Calibri"/>
              <a:buChar char="○"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 measured speed: -19% (slower) 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733" name="Google Shape;73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4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4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4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737" name="Google Shape;73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55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55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Retrospective on Prompted TDD</a:t>
            </a:r>
            <a:endParaRPr b="1" sz="2800">
              <a:solidFill>
                <a:srgbClr val="F8FAFC"/>
              </a:solidFill>
            </a:endParaRPr>
          </a:p>
        </p:txBody>
      </p:sp>
      <p:sp>
        <p:nvSpPr>
          <p:cNvPr id="746" name="Google Shape;746;p55"/>
          <p:cNvSpPr/>
          <p:nvPr/>
        </p:nvSpPr>
        <p:spPr>
          <a:xfrm>
            <a:off x="457200" y="1280160"/>
            <a:ext cx="36600" cy="4389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5"/>
          <p:cNvSpPr txBox="1"/>
          <p:nvPr/>
        </p:nvSpPr>
        <p:spPr>
          <a:xfrm>
            <a:off x="493788" y="2205300"/>
            <a:ext cx="10985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Stanford study (Perry/Boneh) -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https://ee.stanford.edu/dan-boneh-and-team-find-relying-ai-more-likely-make-your-code-buggier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Developers using AI write significantly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less secure code </a:t>
            </a:r>
            <a:b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are more likely to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believe it is secure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748" name="Google Shape;74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55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5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5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752" name="Google Shape;752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6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6"/>
          <p:cNvSpPr txBox="1"/>
          <p:nvPr/>
        </p:nvSpPr>
        <p:spPr>
          <a:xfrm>
            <a:off x="1097280" y="1645920"/>
            <a:ext cx="9601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Prompted TDD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i="1"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Guardrail your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1" name="Google Shape;761;p56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7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57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57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Retrospective on TDD with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57"/>
          <p:cNvSpPr/>
          <p:nvPr/>
        </p:nvSpPr>
        <p:spPr>
          <a:xfrm>
            <a:off x="457200" y="1280160"/>
            <a:ext cx="36600" cy="4389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7"/>
          <p:cNvSpPr txBox="1"/>
          <p:nvPr/>
        </p:nvSpPr>
        <p:spPr>
          <a:xfrm>
            <a:off x="718650" y="1530050"/>
            <a:ext cx="10985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TDFlow: Agentic Workflows for Test Driven Development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Han et al. (EACL 2026) -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https://arxiv.org/abs/2510.23761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88.8% pass rate on SWE-Bench Lite (an absolute improvement of 27.8% over the next best system)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results when tests have been witten by developers.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Enhancing LLM Code Generation Capabilities through Test-Driven Development and Code Interpreter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Jalil et al. (AACL-IJCNLP 2025) -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https://arxiv.org/abs/2511.12823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open-source models with TDD and CI (feedback) outperformed expensive/commerical models.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772" name="Google Shape;772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7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7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7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776" name="Google Shape;776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8"/>
          <p:cNvSpPr/>
          <p:nvPr/>
        </p:nvSpPr>
        <p:spPr>
          <a:xfrm>
            <a:off x="0" y="54864"/>
            <a:ext cx="12191700" cy="10059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58"/>
          <p:cNvSpPr txBox="1"/>
          <p:nvPr/>
        </p:nvSpPr>
        <p:spPr>
          <a:xfrm>
            <a:off x="45720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Retrospective on Prompted TDD</a:t>
            </a:r>
            <a:endParaRPr b="1" sz="2800">
              <a:solidFill>
                <a:srgbClr val="F8FAFC"/>
              </a:solidFill>
            </a:endParaRPr>
          </a:p>
        </p:txBody>
      </p:sp>
      <p:sp>
        <p:nvSpPr>
          <p:cNvPr id="785" name="Google Shape;785;p58"/>
          <p:cNvSpPr/>
          <p:nvPr/>
        </p:nvSpPr>
        <p:spPr>
          <a:xfrm>
            <a:off x="457200" y="1280160"/>
            <a:ext cx="36600" cy="4389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8"/>
          <p:cNvSpPr txBox="1"/>
          <p:nvPr/>
        </p:nvSpPr>
        <p:spPr>
          <a:xfrm>
            <a:off x="602988" y="1484400"/>
            <a:ext cx="10985700" cy="3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paste promts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Really depends on the prompt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the code after each step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is more difficult than writing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spcBef>
                <a:spcPts val="10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just approve (LGTM)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icon-blue.png" id="787" name="Google Shape;78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1574" y="73152"/>
            <a:ext cx="822958" cy="822958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58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C1C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8"/>
          <p:cNvSpPr txBox="1"/>
          <p:nvPr/>
        </p:nvSpPr>
        <p:spPr>
          <a:xfrm>
            <a:off x="3352646" y="6538319"/>
            <a:ext cx="548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58"/>
          <p:cNvSpPr txBox="1"/>
          <p:nvPr/>
        </p:nvSpPr>
        <p:spPr>
          <a:xfrm>
            <a:off x="8991294" y="6533388"/>
            <a:ext cx="2926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codepraxis.eu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-long-white.png" id="791" name="Google Shape;79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4" y="6489068"/>
            <a:ext cx="1829734" cy="33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9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9"/>
          <p:cNvSpPr/>
          <p:nvPr/>
        </p:nvSpPr>
        <p:spPr>
          <a:xfrm>
            <a:off x="0" y="6803136"/>
            <a:ext cx="12191700" cy="54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9"/>
          <p:cNvSpPr txBox="1"/>
          <p:nvPr/>
        </p:nvSpPr>
        <p:spPr>
          <a:xfrm>
            <a:off x="1097280" y="1645920"/>
            <a:ext cx="9601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</a:rPr>
              <a:t>Agentic</a:t>
            </a:r>
            <a:r>
              <a:rPr b="1" lang="en-US" sz="2800">
                <a:solidFill>
                  <a:srgbClr val="F8FAFC"/>
                </a:solidFill>
              </a:rPr>
              <a:t> TDD Exercise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i="1"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High-throughput 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0" name="Google Shape;800;p59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8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6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60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60"/>
          <p:cNvSpPr txBox="1"/>
          <p:nvPr/>
        </p:nvSpPr>
        <p:spPr>
          <a:xfrm>
            <a:off x="1371600" y="2651760"/>
            <a:ext cx="9418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Healthy Software is Engineered.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60"/>
          <p:cNvSpPr/>
          <p:nvPr/>
        </p:nvSpPr>
        <p:spPr>
          <a:xfrm>
            <a:off x="3657600" y="3383280"/>
            <a:ext cx="484632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60"/>
          <p:cNvSpPr txBox="1"/>
          <p:nvPr/>
        </p:nvSpPr>
        <p:spPr>
          <a:xfrm>
            <a:off x="914400" y="3657600"/>
            <a:ext cx="10332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Dr. Stefan Trenkwalder  ·  Code Praxis GmbH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stefan@codepraxis.eu  ·  codepraxis.eu  ·  Vienna, Austria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linkedin.com/in/stefantrenkwalder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2" name="Google Shape;812;p60" title="code-practice-slogan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425" y="6226775"/>
            <a:ext cx="254185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60" title="link-qrcod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0212" y="4757200"/>
            <a:ext cx="1931274" cy="193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